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7EA532-BA41-4F5C-92C9-18BC041AC6DD}">
  <a:tblStyle styleId="{037EA532-BA41-4F5C-92C9-18BC041AC6D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455395c98_0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455395c9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d6139be6a_9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d6139be6a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3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57113" y="55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{037EA532-BA41-4F5C-92C9-18BC041AC6DD}</a:tableStyleId>
              </a:tblPr>
              <a:tblGrid>
                <a:gridCol w="2045925"/>
                <a:gridCol w="1969425"/>
                <a:gridCol w="713200"/>
                <a:gridCol w="721500"/>
                <a:gridCol w="3354500"/>
              </a:tblGrid>
              <a:tr h="26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Stakeholder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Role 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Power</a:t>
                      </a: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 (H/M/L)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Interest (</a:t>
                      </a: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H/M/L</a:t>
                      </a: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Notes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Omar Mubarak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Owner/Project </a:t>
                      </a:r>
                      <a:r>
                        <a:rPr lang="en" sz="900">
                          <a:solidFill>
                            <a:srgbClr val="666666"/>
                          </a:solidFill>
                        </a:rPr>
                        <a:t>Sponsor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Very busy </a:t>
                      </a:r>
                      <a:r>
                        <a:rPr lang="en" sz="900">
                          <a:solidFill>
                            <a:srgbClr val="666666"/>
                          </a:solidFill>
                        </a:rPr>
                        <a:t>schedule. Maintains overall vision. Not in the details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Peta Tsosie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Project Manager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This is me in this scenario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Deanna Coleman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Director of Operations 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Responsible for comms and </a:t>
                      </a:r>
                      <a:r>
                        <a:rPr lang="en" sz="900">
                          <a:solidFill>
                            <a:srgbClr val="666666"/>
                          </a:solidFill>
                        </a:rPr>
                        <a:t>restaurant integrity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Carter Ward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Executive Chef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FInal say on menu choices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Gilly Tyson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General Manager (North Location)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Alex Schmidt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General Manager (Downtown Location)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Nia Williams 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General Manager (Waterfront)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Nothing to do with current </a:t>
                      </a:r>
                      <a:r>
                        <a:rPr lang="en" sz="900">
                          <a:solidFill>
                            <a:srgbClr val="666666"/>
                          </a:solidFill>
                        </a:rPr>
                        <a:t>project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Zane Dutchman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Kitchen Manager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Larissa Stein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Kitchen Manager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Seydou Diallo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Restaurant</a:t>
                      </a:r>
                      <a:r>
                        <a:rPr lang="en" sz="900">
                          <a:solidFill>
                            <a:srgbClr val="666666"/>
                          </a:solidFill>
                        </a:rPr>
                        <a:t> Technology Consultant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760350" y="34341"/>
            <a:ext cx="7623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5818E"/>
                </a:solidFill>
                <a:highlight>
                  <a:srgbClr val="FFFFFF"/>
                </a:highlight>
              </a:rPr>
              <a:t>Stakeholder</a:t>
            </a:r>
            <a:r>
              <a:rPr b="1" lang="en" sz="1800">
                <a:solidFill>
                  <a:srgbClr val="45818E"/>
                </a:solidFill>
                <a:highlight>
                  <a:srgbClr val="FFFFFF"/>
                </a:highlight>
              </a:rPr>
              <a:t> Analysis</a:t>
            </a:r>
            <a:endParaRPr b="1" sz="1800">
              <a:solidFill>
                <a:srgbClr val="45818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24888" y="581998"/>
            <a:ext cx="2817600" cy="18681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Keep satisfied (high priority)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642483" y="581998"/>
            <a:ext cx="2817600" cy="186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Manage closely (high effort)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24888" y="2450233"/>
            <a:ext cx="2817600" cy="186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Monitor (minimum effort)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642483" y="2450233"/>
            <a:ext cx="2817600" cy="1868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</a:rPr>
              <a:t>Show consideration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 rot="-5400000">
            <a:off x="1267475" y="2314375"/>
            <a:ext cx="1677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Power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553788" y="47864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553788" y="408403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rot="10800000">
            <a:off x="2526443" y="869463"/>
            <a:ext cx="0" cy="14766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/>
          <p:nvPr/>
        </p:nvCxnSpPr>
        <p:spPr>
          <a:xfrm>
            <a:off x="2526443" y="2571306"/>
            <a:ext cx="0" cy="1542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4"/>
          <p:cNvSpPr txBox="1"/>
          <p:nvPr/>
        </p:nvSpPr>
        <p:spPr>
          <a:xfrm>
            <a:off x="5164688" y="4250781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806913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526438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72" name="Google Shape;72;p14"/>
          <p:cNvCxnSpPr>
            <a:stCxn id="69" idx="3"/>
          </p:cNvCxnSpPr>
          <p:nvPr/>
        </p:nvCxnSpPr>
        <p:spPr>
          <a:xfrm>
            <a:off x="6171788" y="4422231"/>
            <a:ext cx="18402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9" idx="1"/>
            <a:endCxn id="71" idx="3"/>
          </p:cNvCxnSpPr>
          <p:nvPr/>
        </p:nvCxnSpPr>
        <p:spPr>
          <a:xfrm flipH="1">
            <a:off x="3450788" y="4422231"/>
            <a:ext cx="1713900" cy="36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4"/>
          <p:cNvSpPr/>
          <p:nvPr/>
        </p:nvSpPr>
        <p:spPr>
          <a:xfrm>
            <a:off x="2837400" y="582000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Omar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Owner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64875" y="80400"/>
            <a:ext cx="1360200" cy="783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Drag each stakeholder’s box to the appropriate place on the power-interest grid</a:t>
            </a:r>
            <a:endParaRPr sz="1300"/>
          </a:p>
        </p:txBody>
      </p:sp>
      <p:sp>
        <p:nvSpPr>
          <p:cNvPr id="76" name="Google Shape;76;p14"/>
          <p:cNvSpPr/>
          <p:nvPr/>
        </p:nvSpPr>
        <p:spPr>
          <a:xfrm>
            <a:off x="7452975" y="793726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Deanna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Director of Operations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588350" y="1343926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Carter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Exec. Chef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828775" y="1894127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Gilly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GM - North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7004900" y="1897065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Alex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GM - Downtown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961900" y="2876928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Zane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Kitchen Manager - North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940950" y="3267978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Larissa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Kitchen Manager - Downtown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5693200" y="3898854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Seydou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Restaurant Consultant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948738" y="4529725"/>
            <a:ext cx="136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Interest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2215500" y="2247775"/>
            <a:ext cx="62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3804200" y="3436706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Nia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General Manager - Waterfront</a:t>
            </a:r>
            <a:endParaRPr b="1" sz="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